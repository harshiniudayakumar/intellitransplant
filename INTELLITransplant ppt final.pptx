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Space Mon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1DBC63-0A27-419B-818D-0900CCCB6C26}">
  <a:tblStyle styleId="{9A1DBC63-0A27-419B-818D-0900CCCB6C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80085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0850" y="0"/>
            <a:ext cx="53911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0"/>
            <a:ext cx="5391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609600"/>
            <a:ext cx="7525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COLLEGE ACADEMIC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1066800"/>
            <a:ext cx="752594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INTELLITRANSPLANT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1882080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Classical AI-Based Organ Transplant Coordination and Decision Support System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591050"/>
            <a:ext cx="716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791075"/>
            <a:ext cx="7167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CS23533 – Foundations of Artificial Intelligence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5219700"/>
            <a:ext cx="716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TEAM MEMBERS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5419725"/>
            <a:ext cx="7167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Harshini U  |  Harshini KP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5848350"/>
            <a:ext cx="716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6048375"/>
            <a:ext cx="71675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Python • FastAPI • SQLite • Classical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1173360"/>
            <a:ext cx="10972800" cy="409575"/>
          </a:xfrm>
          <a:prstGeom prst="roundRect">
            <a:avLst>
              <a:gd name="adj" fmla="val 13953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3849885"/>
            <a:ext cx="10972800" cy="158115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1887735"/>
            <a:ext cx="533400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48400" y="1887735"/>
            <a:ext cx="5334000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923925" y="4259460"/>
            <a:ext cx="1524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076575" y="4259460"/>
            <a:ext cx="1524000" cy="762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229225" y="4164210"/>
            <a:ext cx="1536352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394227" y="4164210"/>
            <a:ext cx="15240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9546877" y="4164210"/>
            <a:ext cx="1721197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09600" y="338316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09600" y="188773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09600" y="1887735"/>
            <a:ext cx="38100" cy="15049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934075" y="1887735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48400" y="3383160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248400" y="188773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248400" y="1887735"/>
            <a:ext cx="38100" cy="15049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1572875" y="1887735"/>
            <a:ext cx="9525" cy="15049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2355056" y="5583435"/>
            <a:ext cx="3509962" cy="295275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169818" y="5583435"/>
            <a:ext cx="3667125" cy="295275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9525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131147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6525" y="454521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9175" y="454521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4177" y="454521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6827" y="454521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1575" y="4392810"/>
            <a:ext cx="1028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24225" y="4392810"/>
            <a:ext cx="1028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76875" y="4297560"/>
            <a:ext cx="104105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41877" y="4297560"/>
            <a:ext cx="1028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94527" y="4297560"/>
            <a:ext cx="122589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Abstract &amp; Process Flow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095375" y="1297185"/>
            <a:ext cx="85010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Note: This system is an academic simulation and does not replace clinical or medical decision-making.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76300" y="2125860"/>
            <a:ext cx="49244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Organ transplantation requires time-sensitive coordination between donors, recipients, hospitals, and transportation. Manual coordination can become complex when multiple constraints must be considered simultaneously.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515100" y="2125860"/>
            <a:ext cx="49244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IntelliTransplant is a classical AI-based decision-support prototype that models medical and logistical variables to support transparent, explainable organ-recipient matching.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23925" y="469761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Donor Organ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3076575" y="469761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Reasoning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5229225" y="4602360"/>
            <a:ext cx="153635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Recipient Match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394227" y="460236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Route Planning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9546877" y="4602360"/>
            <a:ext cx="172119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Explainable Output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2030610" y="5640585"/>
            <a:ext cx="415885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CURRENT: CONSTRAINT FILTERING &amp; SCORING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5825728" y="5640585"/>
            <a:ext cx="43553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PROPOSED: ROUTE OPTIMIZATION &amp; REASONING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09600" y="5554860"/>
            <a:ext cx="10972800" cy="1195982"/>
          </a:xfrm>
          <a:prstGeom prst="roundRect">
            <a:avLst>
              <a:gd name="adj" fmla="val 955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09600" y="1673423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352800" y="1673423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7193160" y="1673423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09600" y="2387798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352800" y="2387798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193160" y="2387798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09600" y="3102173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352800" y="3102173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7193160" y="3102173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09600" y="3816548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352800" y="3816548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7193160" y="3816548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09600" y="4530923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352800" y="4530923"/>
            <a:ext cx="38403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7193160" y="4530923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09600" y="1173360"/>
            <a:ext cx="10972800" cy="4076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15"/>
          <p:cNvGraphicFramePr/>
          <p:nvPr/>
        </p:nvGraphicFramePr>
        <p:xfrm>
          <a:off x="609600" y="1173360"/>
          <a:ext cx="10972800" cy="4076700"/>
        </p:xfrm>
        <a:graphic>
          <a:graphicData uri="http://schemas.openxmlformats.org/drawingml/2006/table">
            <a:tbl>
              <a:tblPr>
                <a:noFill/>
                <a:tableStyleId>{9A1DBC63-0A27-419B-818D-0900CCCB6C26}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Existing Approach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Technique /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Rule-Based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Knowledge-based medical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Struggles with simultaneous multi-variable constraints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 Allocation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Priority &amp; compatibility allocation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May lack integrated transportation and logistical coordination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Route Optimization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Shortest-path algorithms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Often operates independently of medical matching variables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Machine Learning Models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Prediction &amp; 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suitable training data; less interpretable than explicit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D948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IntelliTransplant (Proposed)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Classical AI + matching + routing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Academic prototype integrating multiple coordination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4" name="Google Shape;164;p1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Literature Survey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-2133600" y="6903243"/>
            <a:ext cx="13716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5"/>
          <p:cNvSpPr txBox="1"/>
          <p:nvPr/>
        </p:nvSpPr>
        <p:spPr>
          <a:xfrm>
            <a:off x="838200" y="5783460"/>
            <a:ext cx="1135380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IDENTIFIED RESEARCH GAP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38200" y="6042421"/>
            <a:ext cx="106108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Existing approaches often address allocation, prediction, monitoring, or route optimization separately. IntelliTransplant proposes a unified classical-AI-based decision-support architecture connecting medical constraints with logistical coordination.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609600" y="1173360"/>
            <a:ext cx="5257800" cy="5632102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324600" y="1173360"/>
            <a:ext cx="5257800" cy="5632102"/>
          </a:xfrm>
          <a:prstGeom prst="roundRect">
            <a:avLst>
              <a:gd name="adj" fmla="val 2173"/>
            </a:avLst>
          </a:prstGeom>
          <a:solidFill>
            <a:srgbClr val="F0FDFA"/>
          </a:solidFill>
          <a:ln w="9525" cap="flat" cmpd="sng">
            <a:solidFill>
              <a:srgbClr val="CCFB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638925" y="1990576"/>
            <a:ext cx="4629150" cy="747712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638925" y="2928788"/>
            <a:ext cx="4629150" cy="747712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638925" y="3867001"/>
            <a:ext cx="4629150" cy="747712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6638925" y="4805213"/>
            <a:ext cx="4629150" cy="747712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638925" y="5743426"/>
            <a:ext cx="4629150" cy="747712"/>
          </a:xfrm>
          <a:prstGeom prst="roundRect">
            <a:avLst>
              <a:gd name="adj" fmla="val 1528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638925" y="2728763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6638925" y="3666976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638925" y="4605188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6638925" y="5543401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6638925" y="6481613"/>
            <a:ext cx="4629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7570" y="27716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0458" y="27716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2152501"/>
            <a:ext cx="466725" cy="42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0850" y="3090713"/>
            <a:ext cx="419100" cy="42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0850" y="4028926"/>
            <a:ext cx="466725" cy="42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0850" y="4967138"/>
            <a:ext cx="419100" cy="42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0850" y="5905351"/>
            <a:ext cx="419100" cy="42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38122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04797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45755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86712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52767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15150" y="227156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15150" y="320977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5150" y="414798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15150" y="508620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15150" y="60244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Statement &amp; Objectives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923925" y="1487685"/>
            <a:ext cx="607575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923925" y="1914376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"Organ transplantation involves multiple constraints and time-sensitive coordination."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6638925" y="1487685"/>
            <a:ext cx="5553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923925" y="2657326"/>
            <a:ext cx="148649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COMPLEX PROBLEM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2753320" y="2657326"/>
            <a:ext cx="109998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REASONING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4196208" y="2657326"/>
            <a:ext cx="14521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DECISION SUPPORT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1228725" y="3343126"/>
            <a:ext cx="441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Evaluating multiple simultaneous recipient constraints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228725" y="4009876"/>
            <a:ext cx="4419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Identifying compatible matches accurately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228725" y="4419451"/>
            <a:ext cx="4419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Prioritizing based on urgency and PRA criteria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228725" y="4829026"/>
            <a:ext cx="4419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Planning efficient transportation routes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1228725" y="5238601"/>
            <a:ext cx="4419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Maintaining transparent, auditable records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7419975" y="2169169"/>
            <a:ext cx="23907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Organ-Recipient Matching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Using constraint logic (Implemented)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7372350" y="3107382"/>
            <a:ext cx="22002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Route Optimization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Using heuristic search (Proposed)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7419975" y="4045594"/>
            <a:ext cx="2171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Eligibility Reasoning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Applying expert rules (Proposed)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372350" y="4983807"/>
            <a:ext cx="29337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Estimation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Handling coordination uncertainty (Proposed)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7372350" y="5922019"/>
            <a:ext cx="23907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Audit Tracking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Supporting transparency (Proposed)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09600" y="1173360"/>
            <a:ext cx="6548437" cy="5440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7462837" y="1173360"/>
            <a:ext cx="4119562" cy="5114925"/>
          </a:xfrm>
          <a:prstGeom prst="roundRect">
            <a:avLst>
              <a:gd name="adj" fmla="val 2774"/>
            </a:avLst>
          </a:prstGeom>
          <a:solidFill>
            <a:srgbClr val="F8FAFC"/>
          </a:solidFill>
          <a:ln w="952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2550318" y="1828800"/>
            <a:ext cx="2667000" cy="40233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2359818" y="2395728"/>
            <a:ext cx="3048000" cy="420624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359818" y="3675887"/>
            <a:ext cx="3048000" cy="402336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905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2359818" y="4965192"/>
            <a:ext cx="3048000" cy="40233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429250" y="1411485"/>
            <a:ext cx="1490662" cy="295275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847725" y="2971800"/>
            <a:ext cx="19224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2922537" y="2971800"/>
            <a:ext cx="19224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997350" y="2971800"/>
            <a:ext cx="192241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847725" y="4261104"/>
            <a:ext cx="2959893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960018" y="4261104"/>
            <a:ext cx="2959893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847725" y="5577840"/>
            <a:ext cx="2959893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960018" y="5577840"/>
            <a:ext cx="2959893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10215562" y="1411485"/>
            <a:ext cx="1128712" cy="295275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9525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7700962" y="19353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7700962" y="25449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7700962" y="31545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700962" y="37641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7700962" y="43737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7700962" y="49833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7700962" y="5592960"/>
            <a:ext cx="3643312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2445543" y="1920240"/>
            <a:ext cx="287655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Admin / Coordinator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3657600" y="2258568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2207418" y="2496312"/>
            <a:ext cx="335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FastAPI Backend (REST APIs)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3657600" y="2880360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3657600" y="3456432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2207418" y="3776472"/>
            <a:ext cx="335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Matching Engine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3657600" y="4160520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3657600" y="4718304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2207418" y="5065776"/>
            <a:ext cx="335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SQLite Database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3657600" y="5376672"/>
            <a:ext cx="44805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847725" y="1411485"/>
            <a:ext cx="267533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Prototype Core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5543550" y="1468635"/>
            <a:ext cx="13573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✅ IMPLEMENTED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836023" y="3081528"/>
            <a:ext cx="1945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Organ Module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2910836" y="3081528"/>
            <a:ext cx="1945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Recipient Module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4985649" y="3081528"/>
            <a:ext cx="194581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Hospital Module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706338" y="4370832"/>
            <a:ext cx="3242667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Constraint Filtering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3818632" y="4370832"/>
            <a:ext cx="3242667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Compatibility Scoring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706338" y="5687568"/>
            <a:ext cx="324266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Explainable JSON Output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3818632" y="5687568"/>
            <a:ext cx="324266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Postman Validation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7700962" y="1411485"/>
            <a:ext cx="23877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Proposed Extensions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10329862" y="1468635"/>
            <a:ext cx="9953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🟡 PLANNED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7474148" y="20496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CSP + Backtracking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7474148" y="26592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A* Search &amp; Uniform Cost Search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7474148" y="32688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Knowledge-Based Reasoning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7474148" y="38784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Bayesian Network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7474148" y="44880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Intelligent Agent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7474148" y="50976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Replanning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7474148" y="5707260"/>
            <a:ext cx="40969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Advanced Route Optimization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609600" y="1173360"/>
            <a:ext cx="1814512" cy="295275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609600" y="3428553"/>
            <a:ext cx="1819275" cy="295275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9525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609600" y="1582935"/>
            <a:ext cx="3555950" cy="1464617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4317950" y="1582935"/>
            <a:ext cx="3555950" cy="1464617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8026300" y="1582935"/>
            <a:ext cx="3555950" cy="1464617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609600" y="3838128"/>
            <a:ext cx="2628900" cy="10971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3390900" y="3838128"/>
            <a:ext cx="2628900" cy="10971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6172200" y="3838128"/>
            <a:ext cx="2628900" cy="10971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8953500" y="3838128"/>
            <a:ext cx="2628900" cy="10971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609600" y="303802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609600" y="1582935"/>
            <a:ext cx="355595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609600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4156025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4317950" y="303802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4317950" y="1582935"/>
            <a:ext cx="355595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4317950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7864375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8026300" y="3038028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8026300" y="1582935"/>
            <a:ext cx="355595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8026300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1572726" y="1582935"/>
            <a:ext cx="9525" cy="146461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609600" y="49257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609600" y="3838128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609600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3228975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3390900" y="49257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3390900" y="3838128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3390900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6010275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6172200" y="49257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6172200" y="3838128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172200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8791575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8953500" y="49257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8953500" y="3838128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8953500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1572875" y="3838128"/>
            <a:ext cx="9525" cy="109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186868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075" y="186868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4425" y="186868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038153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2825" y="403815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03815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15425" y="4038153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8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System Modules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723900" y="1230510"/>
            <a:ext cx="16811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CURRENT PROTOTYPE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723900" y="3485703"/>
            <a:ext cx="16859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PROPOSED / PLANNED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847725" y="1849635"/>
            <a:ext cx="404210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Organ Management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4556075" y="1849635"/>
            <a:ext cx="404210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Recipient Management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8264425" y="1849635"/>
            <a:ext cx="3927574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Matching Engine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771525" y="4028628"/>
            <a:ext cx="302537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Route Optimization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3552825" y="4028628"/>
            <a:ext cx="302537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Knowledge Reasoning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6334125" y="4028628"/>
            <a:ext cx="302537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Estimation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9115425" y="4028628"/>
            <a:ext cx="3025378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Audit &amp; Transparency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952500" y="217152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1038225" y="2169616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Register donor organs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952500" y="238479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1038225" y="238288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Store type and blood group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952500" y="259806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1038225" y="259615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Track availability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4660850" y="217152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4746575" y="2169616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Register candidates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4660850" y="238479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4746575" y="238288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Record urgency level</a:t>
            </a:r>
            <a:endParaRPr/>
          </a:p>
        </p:txBody>
      </p:sp>
      <p:sp>
        <p:nvSpPr>
          <p:cNvPr id="344" name="Google Shape;344;p18"/>
          <p:cNvSpPr txBox="1"/>
          <p:nvPr/>
        </p:nvSpPr>
        <p:spPr>
          <a:xfrm>
            <a:off x="4660850" y="259806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5" name="Google Shape;345;p18"/>
          <p:cNvSpPr txBox="1"/>
          <p:nvPr/>
        </p:nvSpPr>
        <p:spPr>
          <a:xfrm>
            <a:off x="4746575" y="259615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Record PRA scores</a:t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8369200" y="2171521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7" name="Google Shape;347;p18"/>
          <p:cNvSpPr txBox="1"/>
          <p:nvPr/>
        </p:nvSpPr>
        <p:spPr>
          <a:xfrm>
            <a:off x="8454925" y="2169616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 constraint filtering</a:t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8369200" y="238479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8454925" y="238288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Generate compatibility scores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8369200" y="2598062"/>
            <a:ext cx="857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8454925" y="2596157"/>
            <a:ext cx="3611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Generate explainable reasons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847725" y="427330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923925" y="428758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A* / UCS Search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847725" y="4435226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923925" y="4449514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Hospital node logic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847725" y="459715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923925" y="461143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Estimate transit time</a:t>
            </a:r>
            <a:endParaRPr/>
          </a:p>
        </p:txBody>
      </p:sp>
      <p:sp>
        <p:nvSpPr>
          <p:cNvPr id="358" name="Google Shape;358;p18"/>
          <p:cNvSpPr txBox="1"/>
          <p:nvPr/>
        </p:nvSpPr>
        <p:spPr>
          <a:xfrm>
            <a:off x="3629025" y="427330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9" name="Google Shape;359;p18"/>
          <p:cNvSpPr txBox="1"/>
          <p:nvPr/>
        </p:nvSpPr>
        <p:spPr>
          <a:xfrm>
            <a:off x="3705225" y="428758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Predefined rules</a:t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3629025" y="4435226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3705225" y="4449514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Eligibility logic</a:t>
            </a:r>
            <a:endParaRPr/>
          </a:p>
        </p:txBody>
      </p:sp>
      <p:sp>
        <p:nvSpPr>
          <p:cNvPr id="362" name="Google Shape;362;p18"/>
          <p:cNvSpPr txBox="1"/>
          <p:nvPr/>
        </p:nvSpPr>
        <p:spPr>
          <a:xfrm>
            <a:off x="3629025" y="459715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3705225" y="461143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Explainable conclusions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6410325" y="427330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6486525" y="428758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Bayesian reasoning</a:t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6410325" y="4435226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7" name="Google Shape;367;p18"/>
          <p:cNvSpPr txBox="1"/>
          <p:nvPr/>
        </p:nvSpPr>
        <p:spPr>
          <a:xfrm>
            <a:off x="6486525" y="4449514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 uncertainty</a:t>
            </a:r>
            <a:endParaRPr/>
          </a:p>
        </p:txBody>
      </p:sp>
      <p:sp>
        <p:nvSpPr>
          <p:cNvPr id="368" name="Google Shape;368;p18"/>
          <p:cNvSpPr txBox="1"/>
          <p:nvPr/>
        </p:nvSpPr>
        <p:spPr>
          <a:xfrm>
            <a:off x="6410325" y="459715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9" name="Google Shape;369;p18"/>
          <p:cNvSpPr txBox="1"/>
          <p:nvPr/>
        </p:nvSpPr>
        <p:spPr>
          <a:xfrm>
            <a:off x="6486525" y="461143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Coordination risk logic</a:t>
            </a:r>
            <a:endParaRPr/>
          </a:p>
        </p:txBody>
      </p:sp>
      <p:sp>
        <p:nvSpPr>
          <p:cNvPr id="370" name="Google Shape;370;p18"/>
          <p:cNvSpPr txBox="1"/>
          <p:nvPr/>
        </p:nvSpPr>
        <p:spPr>
          <a:xfrm>
            <a:off x="9191625" y="427330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1" name="Google Shape;371;p18"/>
          <p:cNvSpPr txBox="1"/>
          <p:nvPr/>
        </p:nvSpPr>
        <p:spPr>
          <a:xfrm>
            <a:off x="9267825" y="428758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 matching decisions</a:t>
            </a:r>
            <a:endParaRPr/>
          </a:p>
        </p:txBody>
      </p:sp>
      <p:sp>
        <p:nvSpPr>
          <p:cNvPr id="372" name="Google Shape;372;p18"/>
          <p:cNvSpPr txBox="1"/>
          <p:nvPr/>
        </p:nvSpPr>
        <p:spPr>
          <a:xfrm>
            <a:off x="9191625" y="4435226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9267825" y="4449514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 timestamps</a:t>
            </a:r>
            <a:endParaRPr/>
          </a:p>
        </p:txBody>
      </p:sp>
      <p:sp>
        <p:nvSpPr>
          <p:cNvPr id="374" name="Google Shape;374;p18"/>
          <p:cNvSpPr txBox="1"/>
          <p:nvPr/>
        </p:nvSpPr>
        <p:spPr>
          <a:xfrm>
            <a:off x="9191625" y="4597151"/>
            <a:ext cx="76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9267825" y="4611439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Traceable history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609600" y="523041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609600" y="1173360"/>
            <a:ext cx="5295900" cy="3752254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6286500" y="1173360"/>
            <a:ext cx="5295900" cy="3752254"/>
          </a:xfrm>
          <a:prstGeom prst="roundRect">
            <a:avLst>
              <a:gd name="adj" fmla="val 3046"/>
            </a:avLst>
          </a:prstGeom>
          <a:solidFill>
            <a:srgbClr val="F8FAFC"/>
          </a:solidFill>
          <a:ln w="9525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4300537" y="1487685"/>
            <a:ext cx="1290637" cy="295275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10339387" y="1487685"/>
            <a:ext cx="928687" cy="295275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9525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Classical AI Techniques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841248" y="5340096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KEY ADVANTAGE: Transparent, rule-driven reasoning through explicit constraints, scores, rules, and search processes.</a:t>
            </a:r>
          </a:p>
        </p:txBody>
      </p:sp>
      <p:sp>
        <p:nvSpPr>
          <p:cNvPr id="388" name="Google Shape;388;p19"/>
          <p:cNvSpPr txBox="1"/>
          <p:nvPr/>
        </p:nvSpPr>
        <p:spPr>
          <a:xfrm>
            <a:off x="923925" y="1487685"/>
            <a:ext cx="363795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CURRENTLY DEMONSTRATED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4414837" y="1544835"/>
            <a:ext cx="115728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IMPLEMENTED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6600825" y="1487685"/>
            <a:ext cx="301287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PROPOSED EXTENSIONS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10453687" y="1544835"/>
            <a:ext cx="7953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PLANNED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923925" y="2183010"/>
            <a:ext cx="612576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Constraint-Based Filtering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923925" y="2426791"/>
            <a:ext cx="47625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Checks hard compatibility conditions such as organ type and blood group.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923925" y="3017341"/>
            <a:ext cx="612576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Compatibility Scoring</a:t>
            </a:r>
            <a:endParaRPr/>
          </a:p>
        </p:txBody>
      </p:sp>
      <p:sp>
        <p:nvSpPr>
          <p:cNvPr id="395" name="Google Shape;395;p19"/>
          <p:cNvSpPr txBox="1"/>
          <p:nvPr/>
        </p:nvSpPr>
        <p:spPr>
          <a:xfrm>
            <a:off x="923925" y="3261121"/>
            <a:ext cx="58340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Ranks valid candidates using weighted criteria.</a:t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923925" y="3670696"/>
            <a:ext cx="6125765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Rule-Based Explanation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923925" y="3914477"/>
            <a:ext cx="58340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Generates transparent reasons for the recommendation.</a:t>
            </a:r>
            <a:endParaRPr/>
          </a:p>
        </p:txBody>
      </p:sp>
      <p:sp>
        <p:nvSpPr>
          <p:cNvPr id="398" name="Google Shape;398;p19"/>
          <p:cNvSpPr txBox="1"/>
          <p:nvPr/>
        </p:nvSpPr>
        <p:spPr>
          <a:xfrm>
            <a:off x="6600825" y="2183010"/>
            <a:ext cx="55911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CSP + Backtracking</a:t>
            </a:r>
            <a:endParaRPr/>
          </a:p>
        </p:txBody>
      </p:sp>
      <p:sp>
        <p:nvSpPr>
          <p:cNvPr id="399" name="Google Shape;399;p19"/>
          <p:cNvSpPr txBox="1"/>
          <p:nvPr/>
        </p:nvSpPr>
        <p:spPr>
          <a:xfrm>
            <a:off x="6600825" y="2384821"/>
            <a:ext cx="559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Structured constraint satisfaction and assignment search.</a:t>
            </a:r>
            <a:endParaRPr/>
          </a:p>
        </p:txBody>
      </p:sp>
      <p:sp>
        <p:nvSpPr>
          <p:cNvPr id="400" name="Google Shape;400;p19"/>
          <p:cNvSpPr txBox="1"/>
          <p:nvPr/>
        </p:nvSpPr>
        <p:spPr>
          <a:xfrm>
            <a:off x="6600825" y="2699146"/>
            <a:ext cx="55911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A* Search &amp; Uniform Cost Search</a:t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6600825" y="2900957"/>
            <a:ext cx="559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Heuristic-guided and minimum-cost route planning.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6600825" y="3215282"/>
            <a:ext cx="55911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Knowledge-Based Reasoning</a:t>
            </a:r>
            <a:endParaRPr/>
          </a:p>
        </p:txBody>
      </p:sp>
      <p:sp>
        <p:nvSpPr>
          <p:cNvPr id="403" name="Google Shape;403;p19"/>
          <p:cNvSpPr txBox="1"/>
          <p:nvPr/>
        </p:nvSpPr>
        <p:spPr>
          <a:xfrm>
            <a:off x="6600825" y="3417093"/>
            <a:ext cx="559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Eligibility and operational rules.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6600825" y="3731418"/>
            <a:ext cx="55911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Bayesian Network</a:t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6600825" y="3933229"/>
            <a:ext cx="559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Uncertainty and risk estimation.</a:t>
            </a: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6600825" y="4247554"/>
            <a:ext cx="5591175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Intelligent Agent</a:t>
            </a: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6600825" y="4449365"/>
            <a:ext cx="559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Coordination and dynamic replanning.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/>
          <p:nvPr/>
        </p:nvSpPr>
        <p:spPr>
          <a:xfrm>
            <a:off x="609600" y="1173360"/>
            <a:ext cx="109728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609600" y="213538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609600" y="117336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609600" y="1173360"/>
            <a:ext cx="38100" cy="9715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11572875" y="1173360"/>
            <a:ext cx="9525" cy="9715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1572768" y="245059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1572768" y="2944368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1572768" y="3438144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1572768" y="393192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1572768" y="4425696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1572768" y="491947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1572768" y="5413248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5276088" y="2633472"/>
            <a:ext cx="3044952" cy="749808"/>
          </a:xfrm>
          <a:prstGeom prst="roundRect">
            <a:avLst>
              <a:gd name="adj" fmla="val 1214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8540496" y="2633472"/>
            <a:ext cx="3044952" cy="749808"/>
          </a:xfrm>
          <a:prstGeom prst="roundRect">
            <a:avLst>
              <a:gd name="adj" fmla="val 1214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5276088" y="3639312"/>
            <a:ext cx="6309360" cy="804672"/>
          </a:xfrm>
          <a:prstGeom prst="roundRect">
            <a:avLst>
              <a:gd name="adj" fmla="val 11905"/>
            </a:avLst>
          </a:prstGeom>
          <a:solidFill>
            <a:srgbClr val="F0FDFA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5276088" y="4681728"/>
            <a:ext cx="3044952" cy="749808"/>
          </a:xfrm>
          <a:prstGeom prst="roundRect">
            <a:avLst>
              <a:gd name="adj" fmla="val 1214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8540496" y="4681728"/>
            <a:ext cx="3044952" cy="749808"/>
          </a:xfrm>
          <a:prstGeom prst="roundRect">
            <a:avLst>
              <a:gd name="adj" fmla="val 1214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Implementation &amp; Technology Stack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713232" y="1353312"/>
            <a:ext cx="107716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prototype demonstrates API-based organ-recipient matching using constraint filtering and compatibility scoring.</a:t>
            </a:r>
            <a:endParaRPr/>
          </a:p>
        </p:txBody>
      </p:sp>
      <p:sp>
        <p:nvSpPr>
          <p:cNvPr id="437" name="Google Shape;437;p20"/>
          <p:cNvSpPr txBox="1"/>
          <p:nvPr/>
        </p:nvSpPr>
        <p:spPr>
          <a:xfrm>
            <a:off x="1508760" y="2532888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 + FastAPI</a:t>
            </a:r>
            <a:endParaRPr/>
          </a:p>
        </p:txBody>
      </p:sp>
      <p:sp>
        <p:nvSpPr>
          <p:cNvPr id="438" name="Google Shape;438;p20"/>
          <p:cNvSpPr txBox="1"/>
          <p:nvPr/>
        </p:nvSpPr>
        <p:spPr>
          <a:xfrm>
            <a:off x="2487168" y="2788920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39" name="Google Shape;439;p20"/>
          <p:cNvSpPr txBox="1"/>
          <p:nvPr/>
        </p:nvSpPr>
        <p:spPr>
          <a:xfrm>
            <a:off x="1508760" y="3026664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REST API / JSON</a:t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2487168" y="3282696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41" name="Google Shape;441;p20"/>
          <p:cNvSpPr txBox="1"/>
          <p:nvPr/>
        </p:nvSpPr>
        <p:spPr>
          <a:xfrm>
            <a:off x="1508760" y="3520440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Matching Logic</a:t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2487168" y="3776472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43" name="Google Shape;443;p20"/>
          <p:cNvSpPr txBox="1"/>
          <p:nvPr/>
        </p:nvSpPr>
        <p:spPr>
          <a:xfrm>
            <a:off x="1508760" y="4014215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Constraint Filtering</a:t>
            </a:r>
            <a:endParaRPr/>
          </a:p>
        </p:txBody>
      </p:sp>
      <p:sp>
        <p:nvSpPr>
          <p:cNvPr id="444" name="Google Shape;444;p20"/>
          <p:cNvSpPr txBox="1"/>
          <p:nvPr/>
        </p:nvSpPr>
        <p:spPr>
          <a:xfrm>
            <a:off x="2487168" y="4270248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45" name="Google Shape;445;p20"/>
          <p:cNvSpPr txBox="1"/>
          <p:nvPr/>
        </p:nvSpPr>
        <p:spPr>
          <a:xfrm>
            <a:off x="1508760" y="4507992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Compatibility Scoring</a:t>
            </a:r>
            <a:endParaRPr/>
          </a:p>
        </p:txBody>
      </p:sp>
      <p:sp>
        <p:nvSpPr>
          <p:cNvPr id="446" name="Google Shape;446;p20"/>
          <p:cNvSpPr txBox="1"/>
          <p:nvPr/>
        </p:nvSpPr>
        <p:spPr>
          <a:xfrm>
            <a:off x="2487168" y="4764024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47" name="Google Shape;447;p20"/>
          <p:cNvSpPr txBox="1"/>
          <p:nvPr/>
        </p:nvSpPr>
        <p:spPr>
          <a:xfrm>
            <a:off x="1508760" y="5001768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SQLite Database</a:t>
            </a:r>
            <a:endParaRPr/>
          </a:p>
        </p:txBody>
      </p:sp>
      <p:sp>
        <p:nvSpPr>
          <p:cNvPr id="448" name="Google Shape;448;p20"/>
          <p:cNvSpPr txBox="1"/>
          <p:nvPr/>
        </p:nvSpPr>
        <p:spPr>
          <a:xfrm>
            <a:off x="2487168" y="5257800"/>
            <a:ext cx="448056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/>
          </a:p>
        </p:txBody>
      </p:sp>
      <p:sp>
        <p:nvSpPr>
          <p:cNvPr id="449" name="Google Shape;449;p20"/>
          <p:cNvSpPr txBox="1"/>
          <p:nvPr/>
        </p:nvSpPr>
        <p:spPr>
          <a:xfrm>
            <a:off x="1508760" y="5495544"/>
            <a:ext cx="2395728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Postman Validation</a:t>
            </a:r>
            <a:endParaRPr/>
          </a:p>
        </p:txBody>
      </p:sp>
      <p:sp>
        <p:nvSpPr>
          <p:cNvPr id="450" name="Google Shape;450;p20"/>
          <p:cNvSpPr txBox="1"/>
          <p:nvPr/>
        </p:nvSpPr>
        <p:spPr>
          <a:xfrm>
            <a:off x="5513832" y="2852928"/>
            <a:ext cx="274320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/>
          </a:p>
        </p:txBody>
      </p:sp>
      <p:sp>
        <p:nvSpPr>
          <p:cNvPr id="451" name="Google Shape;451;p20"/>
          <p:cNvSpPr txBox="1"/>
          <p:nvPr/>
        </p:nvSpPr>
        <p:spPr>
          <a:xfrm>
            <a:off x="5513832" y="3090672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Python + FastAPI</a:t>
            </a:r>
            <a:endParaRPr/>
          </a:p>
        </p:txBody>
      </p:sp>
      <p:sp>
        <p:nvSpPr>
          <p:cNvPr id="452" name="Google Shape;452;p20"/>
          <p:cNvSpPr txBox="1"/>
          <p:nvPr/>
        </p:nvSpPr>
        <p:spPr>
          <a:xfrm>
            <a:off x="8778240" y="2852928"/>
            <a:ext cx="274320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DATABASE</a:t>
            </a:r>
            <a:endParaRPr/>
          </a:p>
        </p:txBody>
      </p:sp>
      <p:sp>
        <p:nvSpPr>
          <p:cNvPr id="453" name="Google Shape;453;p20"/>
          <p:cNvSpPr txBox="1"/>
          <p:nvPr/>
        </p:nvSpPr>
        <p:spPr>
          <a:xfrm>
            <a:off x="8778240" y="30906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SQLite</a:t>
            </a:r>
            <a:endParaRPr/>
          </a:p>
        </p:txBody>
      </p:sp>
      <p:sp>
        <p:nvSpPr>
          <p:cNvPr id="454" name="Google Shape;454;p20"/>
          <p:cNvSpPr txBox="1"/>
          <p:nvPr/>
        </p:nvSpPr>
        <p:spPr>
          <a:xfrm>
            <a:off x="5522976" y="3858768"/>
            <a:ext cx="598932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AI LOGIC (IMPLEMENTED)</a:t>
            </a:r>
            <a:endParaRPr/>
          </a:p>
        </p:txBody>
      </p:sp>
      <p:sp>
        <p:nvSpPr>
          <p:cNvPr id="455" name="Google Shape;455;p20"/>
          <p:cNvSpPr txBox="1"/>
          <p:nvPr/>
        </p:nvSpPr>
        <p:spPr>
          <a:xfrm>
            <a:off x="5522976" y="4087368"/>
            <a:ext cx="5989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Constraint Filtering + Compatibility Scoring</a:t>
            </a:r>
            <a:endParaRPr/>
          </a:p>
        </p:txBody>
      </p:sp>
      <p:sp>
        <p:nvSpPr>
          <p:cNvPr id="456" name="Google Shape;456;p20"/>
          <p:cNvSpPr txBox="1"/>
          <p:nvPr/>
        </p:nvSpPr>
        <p:spPr>
          <a:xfrm>
            <a:off x="5513832" y="4892040"/>
            <a:ext cx="274320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/>
          </a:p>
        </p:txBody>
      </p:sp>
      <p:sp>
        <p:nvSpPr>
          <p:cNvPr id="457" name="Google Shape;457;p20"/>
          <p:cNvSpPr txBox="1"/>
          <p:nvPr/>
        </p:nvSpPr>
        <p:spPr>
          <a:xfrm>
            <a:off x="5513832" y="512978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REST API + JSON</a:t>
            </a:r>
            <a:endParaRPr/>
          </a:p>
        </p:txBody>
      </p:sp>
      <p:sp>
        <p:nvSpPr>
          <p:cNvPr id="458" name="Google Shape;458;p20"/>
          <p:cNvSpPr txBox="1"/>
          <p:nvPr/>
        </p:nvSpPr>
        <p:spPr>
          <a:xfrm>
            <a:off x="8778240" y="4892040"/>
            <a:ext cx="274320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TESTING</a:t>
            </a:r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8778240" y="512978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Postman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609600" y="1261020"/>
            <a:ext cx="2238375" cy="295275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609600" y="3781276"/>
            <a:ext cx="4779764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5846564" y="1173360"/>
            <a:ext cx="5735835" cy="4029075"/>
          </a:xfrm>
          <a:prstGeom prst="roundRect">
            <a:avLst>
              <a:gd name="adj" fmla="val 1891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609600" y="5105251"/>
            <a:ext cx="4779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609600" y="3781276"/>
            <a:ext cx="47797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609600" y="3781276"/>
            <a:ext cx="38100" cy="133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5379839" y="3781276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846564" y="1173360"/>
            <a:ext cx="5735835" cy="37147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876300" y="4324201"/>
            <a:ext cx="514350" cy="238125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5846564" y="1535310"/>
            <a:ext cx="573583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998964" y="128766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6189464" y="128766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6379964" y="128766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AI-Based Organ-Recipient Matching Output</a:t>
            </a:r>
            <a:endParaRPr/>
          </a:p>
        </p:txBody>
      </p:sp>
      <p:sp>
        <p:nvSpPr>
          <p:cNvPr id="479" name="Google Shape;479;p21"/>
          <p:cNvSpPr txBox="1"/>
          <p:nvPr/>
        </p:nvSpPr>
        <p:spPr>
          <a:xfrm>
            <a:off x="723900" y="1318170"/>
            <a:ext cx="21050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CURRENT IMPLEMENTATION</a:t>
            </a:r>
            <a:endParaRPr/>
          </a:p>
        </p:txBody>
      </p:sp>
      <p:sp>
        <p:nvSpPr>
          <p:cNvPr id="480" name="Google Shape;480;p21"/>
          <p:cNvSpPr txBox="1"/>
          <p:nvPr/>
        </p:nvSpPr>
        <p:spPr>
          <a:xfrm>
            <a:off x="609600" y="1784895"/>
            <a:ext cx="62734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Demonstrated Result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>
            <a:off x="609600" y="2257276"/>
            <a:ext cx="487501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 the demonstrated test case, the API returns </a:t>
            </a:r>
            <a:r>
              <a:rPr lang="en-US" sz="15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Recipient 1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as the highest-scoring valid candidate for </a:t>
            </a:r>
            <a:r>
              <a:rPr lang="en-US" sz="15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Organ 1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based on the implemented matching constraints and scoring mechanism.</a:t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876300" y="4019401"/>
            <a:ext cx="437018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Endpoint Executed:</a:t>
            </a:r>
            <a:endParaRPr/>
          </a:p>
        </p:txBody>
      </p:sp>
      <p:sp>
        <p:nvSpPr>
          <p:cNvPr id="483" name="Google Shape;483;p21"/>
          <p:cNvSpPr txBox="1"/>
          <p:nvPr/>
        </p:nvSpPr>
        <p:spPr>
          <a:xfrm>
            <a:off x="876300" y="4676626"/>
            <a:ext cx="437018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200 OK</a:t>
            </a:r>
            <a:endParaRPr/>
          </a:p>
        </p:txBody>
      </p:sp>
      <p:sp>
        <p:nvSpPr>
          <p:cNvPr id="484" name="Google Shape;484;p21"/>
          <p:cNvSpPr txBox="1"/>
          <p:nvPr/>
        </p:nvSpPr>
        <p:spPr>
          <a:xfrm>
            <a:off x="6075164" y="1773435"/>
            <a:ext cx="5373885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{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"Organ_ID"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B5CEA8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"Recipient_ID"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B5CEA8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"Blood_Group_Match"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"Compatible"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"PRA_Score"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"20.5%"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"Compatibility_Score"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B5CEA8"/>
                </a:solidFill>
                <a:latin typeface="Space Mono"/>
                <a:ea typeface="Space Mono"/>
                <a:cs typeface="Space Mono"/>
                <a:sym typeface="Space Mono"/>
              </a:rPr>
              <a:t>105.9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"Decision"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"Recommended"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9CDCFE"/>
                </a:solidFill>
                <a:latin typeface="Space Mono"/>
                <a:ea typeface="Space Mono"/>
                <a:cs typeface="Space Mono"/>
                <a:sym typeface="Space Mono"/>
              </a:rPr>
              <a:t>"Reason"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: [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"Kidney type compatible"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"blood group compatible"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"urgency level 5"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200" b="0" i="0" u="none" strike="noStrike" cap="none">
                <a:solidFill>
                  <a:srgbClr val="CE9178"/>
                </a:solidFill>
                <a:latin typeface="Space Mono"/>
                <a:ea typeface="Space Mono"/>
                <a:cs typeface="Space Mono"/>
                <a:sym typeface="Space Mono"/>
              </a:rPr>
              <a:t>"PRA 20.5%"</a:t>
            </a:r>
            <a:r>
              <a:rPr lang="en-US" sz="1200" b="0" i="0" u="none" strike="noStrike" cap="none">
                <a:solidFill>
                  <a:srgbClr val="D4D4D4"/>
                </a:solidFill>
                <a:latin typeface="Space Mono"/>
                <a:ea typeface="Space Mono"/>
                <a:cs typeface="Space Mono"/>
                <a:sym typeface="Space Mono"/>
              </a:rPr>
              <a:t> ] }</a:t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952500" y="4362301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/>
          </a:p>
        </p:txBody>
      </p:sp>
      <p:sp>
        <p:nvSpPr>
          <p:cNvPr id="486" name="Google Shape;486;p21"/>
          <p:cNvSpPr txBox="1"/>
          <p:nvPr/>
        </p:nvSpPr>
        <p:spPr>
          <a:xfrm>
            <a:off x="1504950" y="4328963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/api/v1/match/organ/1</a:t>
            </a:r>
            <a:endParaRPr/>
          </a:p>
        </p:txBody>
      </p:sp>
      <p:sp>
        <p:nvSpPr>
          <p:cNvPr id="487" name="Google Shape;487;p21"/>
          <p:cNvSpPr txBox="1"/>
          <p:nvPr/>
        </p:nvSpPr>
        <p:spPr>
          <a:xfrm>
            <a:off x="6684764" y="1287660"/>
            <a:ext cx="113704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JSON Response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/>
          <p:nvPr/>
        </p:nvSpPr>
        <p:spPr>
          <a:xfrm>
            <a:off x="609600" y="4421385"/>
            <a:ext cx="10972800" cy="1445865"/>
          </a:xfrm>
          <a:prstGeom prst="roundRect">
            <a:avLst>
              <a:gd name="adj" fmla="val 7905"/>
            </a:avLst>
          </a:prstGeom>
          <a:solidFill>
            <a:srgbClr val="FFFFFF"/>
          </a:solidFill>
          <a:ln w="1905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609600" y="1173360"/>
            <a:ext cx="5295900" cy="2943225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6286500" y="1173360"/>
            <a:ext cx="5295900" cy="2943225"/>
          </a:xfrm>
          <a:prstGeom prst="roundRect">
            <a:avLst>
              <a:gd name="adj" fmla="val 388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857250" y="4669035"/>
            <a:ext cx="2238375" cy="293340"/>
          </a:xfrm>
          <a:prstGeom prst="roundRect">
            <a:avLst>
              <a:gd name="adj" fmla="val 12988"/>
            </a:avLst>
          </a:prstGeom>
          <a:solidFill>
            <a:srgbClr val="ECFDF5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2853630" y="5143351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5011935" y="5143351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7170241" y="5143351"/>
            <a:ext cx="9525" cy="4476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9328546" y="5114776"/>
            <a:ext cx="9525" cy="5048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609600" y="4107060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609600" y="1173360"/>
            <a:ext cx="52959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609600" y="1173360"/>
            <a:ext cx="9525" cy="2943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5895975" y="1173360"/>
            <a:ext cx="9525" cy="2943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6286500" y="4107060"/>
            <a:ext cx="52959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6286500" y="1173360"/>
            <a:ext cx="5295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6286500" y="1173360"/>
            <a:ext cx="9525" cy="2943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11572875" y="1173360"/>
            <a:ext cx="9525" cy="2943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9490471" y="5314801"/>
            <a:ext cx="1447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18782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21830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24878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27926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30974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34022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4625" y="3707010"/>
            <a:ext cx="2286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18782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21830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24878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279261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25" y="309741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2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&amp; Proposed System Outputs</a:t>
            </a:r>
            <a:endParaRPr/>
          </a:p>
        </p:txBody>
      </p:sp>
      <p:sp>
        <p:nvSpPr>
          <p:cNvPr id="523" name="Google Shape;523;p22"/>
          <p:cNvSpPr txBox="1"/>
          <p:nvPr/>
        </p:nvSpPr>
        <p:spPr>
          <a:xfrm>
            <a:off x="971550" y="4726185"/>
            <a:ext cx="2105025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DEMONSTRATED TEST CASE</a:t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857250" y="5143351"/>
            <a:ext cx="194875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Organ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Kidney – O+</a:t>
            </a:r>
            <a:endParaRPr/>
          </a:p>
        </p:txBody>
      </p:sp>
      <p:sp>
        <p:nvSpPr>
          <p:cNvPr id="525" name="Google Shape;525;p22"/>
          <p:cNvSpPr txBox="1"/>
          <p:nvPr/>
        </p:nvSpPr>
        <p:spPr>
          <a:xfrm>
            <a:off x="3015555" y="5143351"/>
            <a:ext cx="194875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Recipient </a:t>
            </a: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Recipient 1</a:t>
            </a:r>
            <a:endParaRPr/>
          </a:p>
        </p:txBody>
      </p:sp>
      <p:sp>
        <p:nvSpPr>
          <p:cNvPr id="526" name="Google Shape;526;p22"/>
          <p:cNvSpPr txBox="1"/>
          <p:nvPr/>
        </p:nvSpPr>
        <p:spPr>
          <a:xfrm>
            <a:off x="5173860" y="5143351"/>
            <a:ext cx="194875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Compatibility </a:t>
            </a:r>
            <a:r>
              <a:rPr lang="en-US" sz="16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Compatible</a:t>
            </a:r>
            <a:endParaRPr/>
          </a:p>
        </p:txBody>
      </p:sp>
      <p:sp>
        <p:nvSpPr>
          <p:cNvPr id="527" name="Google Shape;527;p22"/>
          <p:cNvSpPr txBox="1"/>
          <p:nvPr/>
        </p:nvSpPr>
        <p:spPr>
          <a:xfrm>
            <a:off x="7332166" y="5114776"/>
            <a:ext cx="194875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Score </a:t>
            </a:r>
            <a:r>
              <a:rPr lang="en-US" sz="24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105.9</a:t>
            </a:r>
            <a:endParaRPr/>
          </a:p>
        </p:txBody>
      </p:sp>
      <p:sp>
        <p:nvSpPr>
          <p:cNvPr id="528" name="Google Shape;528;p22"/>
          <p:cNvSpPr txBox="1"/>
          <p:nvPr/>
        </p:nvSpPr>
        <p:spPr>
          <a:xfrm>
            <a:off x="9490471" y="5171926"/>
            <a:ext cx="193923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  <a:endParaRPr/>
          </a:p>
        </p:txBody>
      </p:sp>
      <p:sp>
        <p:nvSpPr>
          <p:cNvPr id="529" name="Google Shape;529;p22"/>
          <p:cNvSpPr txBox="1"/>
          <p:nvPr/>
        </p:nvSpPr>
        <p:spPr>
          <a:xfrm>
            <a:off x="847725" y="1440060"/>
            <a:ext cx="6325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PROTOTYPE OUTPUTS</a:t>
            </a:r>
            <a:endParaRPr/>
          </a:p>
        </p:txBody>
      </p:sp>
      <p:sp>
        <p:nvSpPr>
          <p:cNvPr id="530" name="Google Shape;530;p22"/>
          <p:cNvSpPr txBox="1"/>
          <p:nvPr/>
        </p:nvSpPr>
        <p:spPr>
          <a:xfrm>
            <a:off x="6524625" y="1440060"/>
            <a:ext cx="5667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PROPOSED / FUTURE OUTPUTS</a:t>
            </a:r>
            <a:endParaRPr/>
          </a:p>
        </p:txBody>
      </p:sp>
      <p:sp>
        <p:nvSpPr>
          <p:cNvPr id="531" name="Google Shape;531;p22"/>
          <p:cNvSpPr txBox="1"/>
          <p:nvPr/>
        </p:nvSpPr>
        <p:spPr>
          <a:xfrm>
            <a:off x="9642871" y="5371951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Recommended</a:t>
            </a:r>
            <a:endParaRPr/>
          </a:p>
        </p:txBody>
      </p:sp>
      <p:sp>
        <p:nvSpPr>
          <p:cNvPr id="532" name="Google Shape;532;p22"/>
          <p:cNvSpPr txBox="1"/>
          <p:nvPr/>
        </p:nvSpPr>
        <p:spPr>
          <a:xfrm>
            <a:off x="847725" y="1859160"/>
            <a:ext cx="6024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Compatible Recipient</a:t>
            </a:r>
            <a:endParaRPr/>
          </a:p>
        </p:txBody>
      </p:sp>
      <p:sp>
        <p:nvSpPr>
          <p:cNvPr id="533" name="Google Shape;533;p22"/>
          <p:cNvSpPr txBox="1"/>
          <p:nvPr/>
        </p:nvSpPr>
        <p:spPr>
          <a:xfrm>
            <a:off x="847725" y="2163960"/>
            <a:ext cx="6024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Explainable Match Score</a:t>
            </a:r>
            <a:endParaRPr/>
          </a:p>
        </p:txBody>
      </p:sp>
      <p:sp>
        <p:nvSpPr>
          <p:cNvPr id="534" name="Google Shape;534;p22"/>
          <p:cNvSpPr txBox="1"/>
          <p:nvPr/>
        </p:nvSpPr>
        <p:spPr>
          <a:xfrm>
            <a:off x="847725" y="2468760"/>
            <a:ext cx="6024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Rule-Based Reason</a:t>
            </a:r>
            <a:endParaRPr/>
          </a:p>
        </p:txBody>
      </p:sp>
      <p:sp>
        <p:nvSpPr>
          <p:cNvPr id="535" name="Google Shape;535;p22"/>
          <p:cNvSpPr txBox="1"/>
          <p:nvPr/>
        </p:nvSpPr>
        <p:spPr>
          <a:xfrm>
            <a:off x="847725" y="2773560"/>
            <a:ext cx="6024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Matching Decision</a:t>
            </a:r>
            <a:endParaRPr/>
          </a:p>
        </p:txBody>
      </p:sp>
      <p:sp>
        <p:nvSpPr>
          <p:cNvPr id="536" name="Google Shape;536;p22"/>
          <p:cNvSpPr txBox="1"/>
          <p:nvPr/>
        </p:nvSpPr>
        <p:spPr>
          <a:xfrm>
            <a:off x="847725" y="3078360"/>
            <a:ext cx="60245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JSON API Response</a:t>
            </a:r>
            <a:endParaRPr/>
          </a:p>
        </p:txBody>
      </p:sp>
      <p:sp>
        <p:nvSpPr>
          <p:cNvPr id="537" name="Google Shape;537;p22"/>
          <p:cNvSpPr txBox="1"/>
          <p:nvPr/>
        </p:nvSpPr>
        <p:spPr>
          <a:xfrm>
            <a:off x="6524625" y="18591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Optimized Route</a:t>
            </a:r>
            <a:endParaRPr/>
          </a:p>
        </p:txBody>
      </p:sp>
      <p:sp>
        <p:nvSpPr>
          <p:cNvPr id="538" name="Google Shape;538;p22"/>
          <p:cNvSpPr txBox="1"/>
          <p:nvPr/>
        </p:nvSpPr>
        <p:spPr>
          <a:xfrm>
            <a:off x="6524625" y="21639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Estimated Transport Time</a:t>
            </a:r>
            <a:endParaRPr/>
          </a:p>
        </p:txBody>
      </p:sp>
      <p:sp>
        <p:nvSpPr>
          <p:cNvPr id="539" name="Google Shape;539;p22"/>
          <p:cNvSpPr txBox="1"/>
          <p:nvPr/>
        </p:nvSpPr>
        <p:spPr>
          <a:xfrm>
            <a:off x="6524625" y="24687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Eligibility Decision Engine</a:t>
            </a:r>
            <a:endParaRPr/>
          </a:p>
        </p:txBody>
      </p:sp>
      <p:sp>
        <p:nvSpPr>
          <p:cNvPr id="540" name="Google Shape;540;p22"/>
          <p:cNvSpPr txBox="1"/>
          <p:nvPr/>
        </p:nvSpPr>
        <p:spPr>
          <a:xfrm>
            <a:off x="6524625" y="27735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Risk Estimation</a:t>
            </a:r>
            <a:endParaRPr/>
          </a:p>
        </p:txBody>
      </p:sp>
      <p:sp>
        <p:nvSpPr>
          <p:cNvPr id="541" name="Google Shape;541;p22"/>
          <p:cNvSpPr txBox="1"/>
          <p:nvPr/>
        </p:nvSpPr>
        <p:spPr>
          <a:xfrm>
            <a:off x="6524625" y="30783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Coordination Status</a:t>
            </a:r>
            <a:endParaRPr/>
          </a:p>
        </p:txBody>
      </p:sp>
      <p:sp>
        <p:nvSpPr>
          <p:cNvPr id="542" name="Google Shape;542;p22"/>
          <p:cNvSpPr txBox="1"/>
          <p:nvPr/>
        </p:nvSpPr>
        <p:spPr>
          <a:xfrm>
            <a:off x="6524625" y="33831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 Record</a:t>
            </a:r>
            <a:endParaRPr/>
          </a:p>
        </p:txBody>
      </p:sp>
      <p:sp>
        <p:nvSpPr>
          <p:cNvPr id="543" name="Google Shape;543;p22"/>
          <p:cNvSpPr txBox="1"/>
          <p:nvPr/>
        </p:nvSpPr>
        <p:spPr>
          <a:xfrm>
            <a:off x="6524625" y="3687960"/>
            <a:ext cx="5667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Replanning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3"/>
          <p:cNvSpPr/>
          <p:nvPr/>
        </p:nvSpPr>
        <p:spPr>
          <a:xfrm>
            <a:off x="609600" y="5758606"/>
            <a:ext cx="10972800" cy="5715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609600" y="8685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612648" y="4261104"/>
            <a:ext cx="5294376" cy="11430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62951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00099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724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74394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311541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348689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3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 &amp; Future Scope</a:t>
            </a:r>
            <a:endParaRPr/>
          </a:p>
        </p:txBody>
      </p:sp>
      <p:sp>
        <p:nvSpPr>
          <p:cNvPr id="564" name="Google Shape;564;p23"/>
          <p:cNvSpPr txBox="1"/>
          <p:nvPr/>
        </p:nvSpPr>
        <p:spPr>
          <a:xfrm>
            <a:off x="1097280" y="5879592"/>
            <a:ext cx="10287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DISCLAIMER: IntelliTransplant is an academic simulation and decision-support prototype. It is not a replacement for clinical transplant authorities or medical professionals.</a:t>
            </a:r>
            <a:endParaRPr/>
          </a:p>
        </p:txBody>
      </p:sp>
      <p:sp>
        <p:nvSpPr>
          <p:cNvPr id="565" name="Google Shape;565;p23"/>
          <p:cNvSpPr txBox="1"/>
          <p:nvPr/>
        </p:nvSpPr>
        <p:spPr>
          <a:xfrm>
            <a:off x="609600" y="1173360"/>
            <a:ext cx="695086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566" name="Google Shape;566;p23"/>
          <p:cNvSpPr txBox="1"/>
          <p:nvPr/>
        </p:nvSpPr>
        <p:spPr>
          <a:xfrm>
            <a:off x="609600" y="1577131"/>
            <a:ext cx="53911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IntelliTransplant demonstrates the application of classical AI concepts to organ-transplant coordination and decision support.</a:t>
            </a:r>
            <a:endParaRPr/>
          </a:p>
        </p:txBody>
      </p:sp>
      <p:sp>
        <p:nvSpPr>
          <p:cNvPr id="567" name="Google Shape;567;p23"/>
          <p:cNvSpPr txBox="1"/>
          <p:nvPr/>
        </p:nvSpPr>
        <p:spPr>
          <a:xfrm>
            <a:off x="609600" y="2243881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The current prototype demonstrates constraint-based organ-recipient matching, compatibility scoring, REST API integration, and explainable output generation.</a:t>
            </a:r>
            <a:endParaRPr/>
          </a:p>
        </p:txBody>
      </p:sp>
      <p:sp>
        <p:nvSpPr>
          <p:cNvPr id="568" name="Google Shape;568;p23"/>
          <p:cNvSpPr txBox="1"/>
          <p:nvPr/>
        </p:nvSpPr>
        <p:spPr>
          <a:xfrm>
            <a:off x="609600" y="3244006"/>
            <a:ext cx="53911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Proposed extensions include search-based route optimization, knowledge-based reasoning, Bayesian risk estimation, and intelligent coordination.</a:t>
            </a:r>
            <a:endParaRPr/>
          </a:p>
        </p:txBody>
      </p:sp>
      <p:sp>
        <p:nvSpPr>
          <p:cNvPr id="569" name="Google Shape;569;p23"/>
          <p:cNvSpPr txBox="1"/>
          <p:nvPr/>
        </p:nvSpPr>
        <p:spPr>
          <a:xfrm>
            <a:off x="6286500" y="1173360"/>
            <a:ext cx="590550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/>
          </a:p>
        </p:txBody>
      </p:sp>
      <p:sp>
        <p:nvSpPr>
          <p:cNvPr id="570" name="Google Shape;570;p23"/>
          <p:cNvSpPr txBox="1"/>
          <p:nvPr/>
        </p:nvSpPr>
        <p:spPr>
          <a:xfrm>
            <a:off x="6591300" y="1577131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hospital coordination</a:t>
            </a:r>
            <a:endParaRPr/>
          </a:p>
        </p:txBody>
      </p:sp>
      <p:sp>
        <p:nvSpPr>
          <p:cNvPr id="571" name="Google Shape;571;p23"/>
          <p:cNvSpPr txBox="1"/>
          <p:nvPr/>
        </p:nvSpPr>
        <p:spPr>
          <a:xfrm>
            <a:off x="6591300" y="1948606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Dynamic route replanning</a:t>
            </a:r>
            <a:endParaRPr/>
          </a:p>
        </p:txBody>
      </p:sp>
      <p:sp>
        <p:nvSpPr>
          <p:cNvPr id="572" name="Google Shape;572;p23"/>
          <p:cNvSpPr txBox="1"/>
          <p:nvPr/>
        </p:nvSpPr>
        <p:spPr>
          <a:xfrm>
            <a:off x="6591300" y="2320081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Integration with simulated IoT transport data</a:t>
            </a:r>
            <a:endParaRPr/>
          </a:p>
        </p:txBody>
      </p:sp>
      <p:sp>
        <p:nvSpPr>
          <p:cNvPr id="573" name="Google Shape;573;p23"/>
          <p:cNvSpPr txBox="1"/>
          <p:nvPr/>
        </p:nvSpPr>
        <p:spPr>
          <a:xfrm>
            <a:off x="6591300" y="2691556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More detailed HLA / cross-match constraints</a:t>
            </a:r>
            <a:endParaRPr/>
          </a:p>
        </p:txBody>
      </p:sp>
      <p:sp>
        <p:nvSpPr>
          <p:cNvPr id="574" name="Google Shape;574;p23"/>
          <p:cNvSpPr txBox="1"/>
          <p:nvPr/>
        </p:nvSpPr>
        <p:spPr>
          <a:xfrm>
            <a:off x="6591300" y="3063031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Multi-organ &amp; multi-recipient optimization</a:t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6591300" y="3434506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Enhanced audit and transparency mechanisms</a:t>
            </a:r>
            <a:endParaRPr/>
          </a:p>
        </p:txBody>
      </p:sp>
      <p:sp>
        <p:nvSpPr>
          <p:cNvPr id="576" name="Google Shape;576;p23"/>
          <p:cNvSpPr txBox="1"/>
          <p:nvPr/>
        </p:nvSpPr>
        <p:spPr>
          <a:xfrm>
            <a:off x="804672" y="4407408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endParaRPr/>
          </a:p>
        </p:txBody>
      </p:sp>
      <p:sp>
        <p:nvSpPr>
          <p:cNvPr id="577" name="Google Shape;577;p23"/>
          <p:cNvSpPr txBox="1"/>
          <p:nvPr/>
        </p:nvSpPr>
        <p:spPr>
          <a:xfrm>
            <a:off x="3310128" y="4407408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endParaRPr/>
          </a:p>
        </p:txBody>
      </p:sp>
      <p:sp>
        <p:nvSpPr>
          <p:cNvPr id="578" name="Google Shape;578;p23"/>
          <p:cNvSpPr txBox="1"/>
          <p:nvPr/>
        </p:nvSpPr>
        <p:spPr>
          <a:xfrm>
            <a:off x="804672" y="466344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endParaRPr/>
          </a:p>
        </p:txBody>
      </p:sp>
      <p:sp>
        <p:nvSpPr>
          <p:cNvPr id="579" name="Google Shape;579;p23"/>
          <p:cNvSpPr txBox="1"/>
          <p:nvPr/>
        </p:nvSpPr>
        <p:spPr>
          <a:xfrm>
            <a:off x="3310128" y="466344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endParaRPr/>
          </a:p>
        </p:txBody>
      </p:sp>
      <p:sp>
        <p:nvSpPr>
          <p:cNvPr id="580" name="Google Shape;580;p23"/>
          <p:cNvSpPr txBox="1"/>
          <p:nvPr/>
        </p:nvSpPr>
        <p:spPr>
          <a:xfrm>
            <a:off x="771525" y="5025181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endParaRPr/>
          </a:p>
        </p:txBody>
      </p:sp>
      <p:sp>
        <p:nvSpPr>
          <p:cNvPr id="581" name="Google Shape;581;p23"/>
          <p:cNvSpPr txBox="1"/>
          <p:nvPr/>
        </p:nvSpPr>
        <p:spPr>
          <a:xfrm>
            <a:off x="771525" y="5215681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endParaRPr/>
          </a:p>
        </p:txBody>
      </p:sp>
      <p:sp>
        <p:nvSpPr>
          <p:cNvPr id="582" name="TextBox 581"/>
          <p:cNvSpPr txBox="1"/>
          <p:nvPr/>
        </p:nvSpPr>
        <p:spPr>
          <a:xfrm>
            <a:off x="804672" y="440740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928"/>
                </a:solidFill>
              </a:rPr>
              <a:t>CURRENT PROTOTYPE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804672" y="4663440"/>
            <a:ext cx="2240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15069"/>
                </a:solidFill>
              </a:rPr>
              <a:t>Constraint Filtering
Compatibility Scoring
FastAPI + SQLite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3310128" y="440740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1928"/>
                </a:solidFill>
              </a:rPr>
              <a:t>PROPOSED / PLANNED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3310128" y="4663440"/>
            <a:ext cx="24048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15069"/>
                </a:solidFill>
              </a:rPr>
              <a:t>CSP / Backtracking
A* / UCS • Knowledge Rules
Bayesian Network • Intelligent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4"/>
          <p:cNvSpPr/>
          <p:nvPr/>
        </p:nvSpPr>
        <p:spPr>
          <a:xfrm>
            <a:off x="5791200" y="2891730"/>
            <a:ext cx="6096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4652962" y="4318545"/>
            <a:ext cx="2886075" cy="790575"/>
          </a:xfrm>
          <a:prstGeom prst="roundRect">
            <a:avLst>
              <a:gd name="adj" fmla="val 9638"/>
            </a:avLst>
          </a:prstGeom>
          <a:solidFill>
            <a:srgbClr val="1B2335"/>
          </a:solidFill>
          <a:ln w="9525" cap="flat" cmpd="sng">
            <a:solidFill>
              <a:srgbClr val="272E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 txBox="1"/>
          <p:nvPr/>
        </p:nvSpPr>
        <p:spPr>
          <a:xfrm>
            <a:off x="2920603" y="1748730"/>
            <a:ext cx="63507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590" name="Google Shape;590;p24"/>
          <p:cNvSpPr txBox="1"/>
          <p:nvPr/>
        </p:nvSpPr>
        <p:spPr>
          <a:xfrm>
            <a:off x="2920603" y="3234630"/>
            <a:ext cx="635079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INTELLITRANSPLANT</a:t>
            </a:r>
            <a:endParaRPr/>
          </a:p>
        </p:txBody>
      </p:sp>
      <p:sp>
        <p:nvSpPr>
          <p:cNvPr id="591" name="Google Shape;591;p24"/>
          <p:cNvSpPr txBox="1"/>
          <p:nvPr/>
        </p:nvSpPr>
        <p:spPr>
          <a:xfrm>
            <a:off x="3071812" y="3661320"/>
            <a:ext cx="6048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CS23533 – Foundations of Artificial Intelligence</a:t>
            </a:r>
            <a:endParaRPr/>
          </a:p>
        </p:txBody>
      </p:sp>
      <p:sp>
        <p:nvSpPr>
          <p:cNvPr id="592" name="Google Shape;592;p24"/>
          <p:cNvSpPr txBox="1"/>
          <p:nvPr/>
        </p:nvSpPr>
        <p:spPr>
          <a:xfrm>
            <a:off x="4685109" y="4480470"/>
            <a:ext cx="282178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endParaRPr/>
          </a:p>
        </p:txBody>
      </p:sp>
      <p:sp>
        <p:nvSpPr>
          <p:cNvPr id="593" name="Google Shape;593;p24"/>
          <p:cNvSpPr txBox="1"/>
          <p:nvPr/>
        </p:nvSpPr>
        <p:spPr>
          <a:xfrm>
            <a:off x="4685109" y="4718595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Harshini U  |  Harshini KP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"/>
          <p:cNvSpPr/>
          <p:nvPr/>
        </p:nvSpPr>
        <p:spPr>
          <a:xfrm>
            <a:off x="571500" y="98286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571500" y="128766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571500" y="2049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571500" y="2049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3053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2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5"/>
          <p:cNvSpPr txBox="1"/>
          <p:nvPr/>
        </p:nvSpPr>
        <p:spPr>
          <a:xfrm>
            <a:off x="571500" y="571500"/>
            <a:ext cx="3800475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605" name="Google Shape;605;p25"/>
          <p:cNvSpPr txBox="1"/>
          <p:nvPr/>
        </p:nvSpPr>
        <p:spPr>
          <a:xfrm>
            <a:off x="1666875" y="1473398"/>
            <a:ext cx="94892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https://images.stockcake.com/public/a/0/a/a0a96d6a-224a-491e-87ae-5bef83bbd9c1_large/teal-mind-technology-stockcake.jpg</a:t>
            </a:r>
            <a:endParaRPr/>
          </a:p>
        </p:txBody>
      </p:sp>
      <p:sp>
        <p:nvSpPr>
          <p:cNvPr id="606" name="Google Shape;606;p25"/>
          <p:cNvSpPr txBox="1"/>
          <p:nvPr/>
        </p:nvSpPr>
        <p:spPr>
          <a:xfrm>
            <a:off x="1666875" y="1673423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607" name="Google Shape;607;p25"/>
          <p:cNvSpPr txBox="1"/>
          <p:nvPr/>
        </p:nvSpPr>
        <p:spPr>
          <a:xfrm>
            <a:off x="1666875" y="2244923"/>
            <a:ext cx="736996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https://www.bu.edu/met/files/2025/09/MSADA-Data-Engineering-Hero_2307492037-1200x500.jpg</a:t>
            </a:r>
            <a:endParaRPr dirty="0"/>
          </a:p>
        </p:txBody>
      </p:sp>
      <p:sp>
        <p:nvSpPr>
          <p:cNvPr id="608" name="Google Shape;608;p25"/>
          <p:cNvSpPr txBox="1"/>
          <p:nvPr/>
        </p:nvSpPr>
        <p:spPr>
          <a:xfrm>
            <a:off x="1666875" y="2444948"/>
            <a:ext cx="18811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www.bu.edu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Office PowerPoint</Application>
  <PresentationFormat>Widescreen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Space Mono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HARSHINI KP</dc:creator>
  <cp:lastModifiedBy>harshini kp</cp:lastModifiedBy>
  <cp:revision>1</cp:revision>
  <dcterms:modified xsi:type="dcterms:W3CDTF">2026-09-21T19:42:42Z</dcterms:modified>
</cp:coreProperties>
</file>